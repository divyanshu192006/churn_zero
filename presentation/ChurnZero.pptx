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yne ExtraBold"/>
      <p:regular r:id="rId17"/>
    </p:embeddedFont>
    <p:embeddedFont>
      <p:font typeface="Syne"/>
      <p:regular r:id="rId18"/>
    </p:embeddedFont>
    <p:embeddedFont>
      <p:font typeface="Syne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2682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ChurnZero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963936"/>
            <a:ext cx="4722763" cy="9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AI-Powered Customer Churn Prediction &amp; Loss Prevention System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3925119" y="3080221"/>
            <a:ext cx="4722763" cy="53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 End-to-End Modular Machine Learning Solution with Business-Cost Optimization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Prepared by Team Antigravity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| IITK Machine Learning Challenge | 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5708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The Business Challenge &amp; Financial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8882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Traditional customer retention systems are reactive, acting after a customer closes their account. By embedding a forward-looking predictive framework, we identify churn signals early. Account balance drop, lost interest, &amp; RM acquisition cost.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225278"/>
            <a:ext cx="4103191" cy="1387450"/>
          </a:xfrm>
          <a:prstGeom prst="roundRect">
            <a:avLst>
              <a:gd name="adj" fmla="val 6437"/>
            </a:avLst>
          </a:prstGeom>
          <a:solidFill>
            <a:srgbClr val="111A23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349252"/>
            <a:ext cx="292164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False Negative 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592660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A9F00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₹40,000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796" y="3104183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Losing a true churning customer (False Negative) costs ₹40,000 (LTV + acquisition losses).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349252"/>
            <a:ext cx="278107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False Positive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592660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81B61C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₹500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28046" y="3104183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Offering a retention campaign to a loyal customer (False Positive) costs ₹500. Targeted proactive campaign offering (fee waivers, gifts).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752255"/>
            <a:ext cx="8151763" cy="725463"/>
          </a:xfrm>
          <a:prstGeom prst="roundRect">
            <a:avLst>
              <a:gd name="adj" fmla="val 7182"/>
            </a:avLst>
          </a:prstGeom>
          <a:solidFill>
            <a:srgbClr val="4B3F0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936802"/>
            <a:ext cx="155004" cy="12397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9071" y="3907185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CRITICAL CONTEXT: High cost imbalance dictates modeling objective: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 False Negative is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80x MORE EXPENSIVE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than a False Positive! Therefore, we must tune the decision boundary to aggressively prioritize Recall over Precision/Accuracy.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433685"/>
            <a:ext cx="48909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The Dataset Profile &amp; Categorical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126531" y="883369"/>
            <a:ext cx="534813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Our system ingests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97 customer attributes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across 8 functional business domains: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2126531" y="992535"/>
            <a:ext cx="2429991" cy="323329"/>
          </a:xfrm>
          <a:prstGeom prst="roundRect">
            <a:avLst>
              <a:gd name="adj" fmla="val 8057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3280" y="1059284"/>
            <a:ext cx="1888629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1. Customer Profile (12 features)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2193280" y="1174775"/>
            <a:ext cx="229649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Age, gender, marital status, education level, city tier.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4587478" y="992535"/>
            <a:ext cx="2429991" cy="323329"/>
          </a:xfrm>
          <a:prstGeom prst="roundRect">
            <a:avLst>
              <a:gd name="adj" fmla="val 8057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54228" y="1059284"/>
            <a:ext cx="222773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2. Tenure &amp; Relationship (10 features)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654228" y="1174775"/>
            <a:ext cx="229649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Relationship months, customer lifetime value (CLV).</a:t>
            </a:r>
            <a:endParaRPr lang="en-US" sz="450" dirty="0"/>
          </a:p>
        </p:txBody>
      </p:sp>
      <p:sp>
        <p:nvSpPr>
          <p:cNvPr id="10" name="Shape 8"/>
          <p:cNvSpPr/>
          <p:nvPr/>
        </p:nvSpPr>
        <p:spPr>
          <a:xfrm>
            <a:off x="2126531" y="1346820"/>
            <a:ext cx="2429991" cy="420216"/>
          </a:xfrm>
          <a:prstGeom prst="roundRect">
            <a:avLst>
              <a:gd name="adj" fmla="val 6199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3280" y="1413570"/>
            <a:ext cx="2296492" cy="193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3. Account &amp; Transactions (15 features)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193280" y="1625947"/>
            <a:ext cx="229649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Monthly balance, transaction counts, balance declines.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4587478" y="1346820"/>
            <a:ext cx="2429991" cy="420216"/>
          </a:xfrm>
          <a:prstGeom prst="roundRect">
            <a:avLst>
              <a:gd name="adj" fmla="val 6199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28" y="1413570"/>
            <a:ext cx="19560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4. Product Holdings (10 features)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654228" y="1529060"/>
            <a:ext cx="229649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Savings account, credit card, home/personal loan flags.</a:t>
            </a:r>
            <a:endParaRPr lang="en-US" sz="450" dirty="0"/>
          </a:p>
        </p:txBody>
      </p:sp>
      <p:sp>
        <p:nvSpPr>
          <p:cNvPr id="16" name="Shape 14"/>
          <p:cNvSpPr/>
          <p:nvPr/>
        </p:nvSpPr>
        <p:spPr>
          <a:xfrm>
            <a:off x="2126531" y="1797993"/>
            <a:ext cx="2429991" cy="420216"/>
          </a:xfrm>
          <a:prstGeom prst="roundRect">
            <a:avLst>
              <a:gd name="adj" fmla="val 6199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3280" y="1864742"/>
            <a:ext cx="2296492" cy="193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5. Credit &amp; Loan Behaviour (10 features)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193280" y="2077120"/>
            <a:ext cx="229649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Limits, outstanding amount, EMI delays.</a:t>
            </a:r>
            <a:endParaRPr lang="en-US" sz="450" dirty="0"/>
          </a:p>
        </p:txBody>
      </p:sp>
      <p:sp>
        <p:nvSpPr>
          <p:cNvPr id="19" name="Shape 17"/>
          <p:cNvSpPr/>
          <p:nvPr/>
        </p:nvSpPr>
        <p:spPr>
          <a:xfrm>
            <a:off x="4587478" y="1797993"/>
            <a:ext cx="2429991" cy="420216"/>
          </a:xfrm>
          <a:prstGeom prst="roundRect">
            <a:avLst>
              <a:gd name="adj" fmla="val 6199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28" y="1864742"/>
            <a:ext cx="181362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6. Digital Banking (10 features)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654228" y="1980233"/>
            <a:ext cx="229649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Logins, digital ratio, last login days, app ratings.</a:t>
            </a:r>
            <a:endParaRPr lang="en-US" sz="450" dirty="0"/>
          </a:p>
        </p:txBody>
      </p:sp>
      <p:sp>
        <p:nvSpPr>
          <p:cNvPr id="22" name="Shape 20"/>
          <p:cNvSpPr/>
          <p:nvPr/>
        </p:nvSpPr>
        <p:spPr>
          <a:xfrm>
            <a:off x="2126531" y="2249165"/>
            <a:ext cx="2429991" cy="420216"/>
          </a:xfrm>
          <a:prstGeom prst="roundRect">
            <a:avLst>
              <a:gd name="adj" fmla="val 6199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3280" y="2315914"/>
            <a:ext cx="2217465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7. Service &amp; Complaints (10 features)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193280" y="2431405"/>
            <a:ext cx="229649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Total complaints, unresolved complaints, escalation.</a:t>
            </a:r>
            <a:endParaRPr lang="en-US" sz="450" dirty="0"/>
          </a:p>
        </p:txBody>
      </p:sp>
      <p:sp>
        <p:nvSpPr>
          <p:cNvPr id="25" name="Shape 23"/>
          <p:cNvSpPr/>
          <p:nvPr/>
        </p:nvSpPr>
        <p:spPr>
          <a:xfrm>
            <a:off x="4587478" y="2249165"/>
            <a:ext cx="2429991" cy="420216"/>
          </a:xfrm>
          <a:prstGeom prst="roundRect">
            <a:avLst>
              <a:gd name="adj" fmla="val 6199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28" y="2315914"/>
            <a:ext cx="2296492" cy="193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8. Marketing &amp; Campaigns (10 features)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654228" y="2528292"/>
            <a:ext cx="229649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Campaigns received, offers accepted, sentiments.</a:t>
            </a:r>
            <a:endParaRPr lang="en-US" sz="450" dirty="0"/>
          </a:p>
        </p:txBody>
      </p:sp>
      <p:sp>
        <p:nvSpPr>
          <p:cNvPr id="28" name="Text 26"/>
          <p:cNvSpPr/>
          <p:nvPr/>
        </p:nvSpPr>
        <p:spPr>
          <a:xfrm>
            <a:off x="2126531" y="2735163"/>
            <a:ext cx="1555775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Target Imbalance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126531" y="2863007"/>
            <a:ext cx="2369865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16.07% Churn rate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(6,799 Loyal vs. 1,302 Churners). Imbalance is handled via stratified cross-validation splits and cost-weighted loss metrics.</a:t>
            </a:r>
            <a:endParaRPr lang="en-US" sz="450" dirty="0"/>
          </a:p>
        </p:txBody>
      </p:sp>
      <p:sp>
        <p:nvSpPr>
          <p:cNvPr id="30" name="Text 28"/>
          <p:cNvSpPr/>
          <p:nvPr/>
        </p:nvSpPr>
        <p:spPr>
          <a:xfrm>
            <a:off x="4652367" y="2735163"/>
            <a:ext cx="209073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Training Churn Distribution</a:t>
            </a:r>
            <a:endParaRPr lang="en-US" sz="6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2367" y="2866876"/>
            <a:ext cx="2369865" cy="170579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652367" y="4607496"/>
            <a:ext cx="2827065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Loyal: 83.9% | Churners: 16.1%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977578"/>
            <a:ext cx="48909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Phase 1: Preprocessing &amp; App Missingness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126531" y="1427262"/>
            <a:ext cx="5348139" cy="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 built a robust, reusable pipeline class (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ChurnPreprocessor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) to clean the raw inputs: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2081882" y="1541190"/>
            <a:ext cx="2459162" cy="2624658"/>
          </a:xfrm>
          <a:prstGeom prst="roundRect">
            <a:avLst>
              <a:gd name="adj" fmla="val 1816"/>
            </a:avLst>
          </a:prstGeom>
          <a:solidFill>
            <a:srgbClr val="111A23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143869" y="1572146"/>
            <a:ext cx="226055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Special Missingness Handling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2143869" y="1699989"/>
            <a:ext cx="2335188" cy="488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column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highlight>
                  <a:srgbClr val="1E27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app_rating_given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has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56% missing values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 Standard imputation destroys correlation. We engineered a binary indicator feature: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highlight>
                  <a:srgbClr val="1E27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app_rating_missing = 1</a:t>
            </a:r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Discovery: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Churn rate is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20.3%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when app rating is missing vs.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81B61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10.6%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when rating is given. This proves missingness is an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active behavioral signal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of non-adoption of digital banking.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4652367" y="1572146"/>
            <a:ext cx="178861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Categorical Encoding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652367" y="1699989"/>
            <a:ext cx="2369865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 13 categorical object columns (e.g.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customer_segment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onboarding_channel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) are ordinally encoded using unseen category fallbacks (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) to guarantee zero data leakage.</a:t>
            </a:r>
            <a:endParaRPr lang="en-US" sz="450" dirty="0"/>
          </a:p>
        </p:txBody>
      </p:sp>
      <p:sp>
        <p:nvSpPr>
          <p:cNvPr id="9" name="Text 7"/>
          <p:cNvSpPr/>
          <p:nvPr/>
        </p:nvSpPr>
        <p:spPr>
          <a:xfrm>
            <a:off x="4652367" y="1889150"/>
            <a:ext cx="1513061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Numerical Scaler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652367" y="2016993"/>
            <a:ext cx="2369865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Features are robustly imputed via fold-medians and standardized for scale-sensitive models.</a:t>
            </a:r>
            <a:endParaRPr lang="en-US" sz="450" dirty="0"/>
          </a:p>
        </p:txBody>
      </p:sp>
      <p:sp>
        <p:nvSpPr>
          <p:cNvPr id="11" name="Text 9"/>
          <p:cNvSpPr/>
          <p:nvPr/>
        </p:nvSpPr>
        <p:spPr>
          <a:xfrm>
            <a:off x="4652367" y="2196629"/>
            <a:ext cx="2369865" cy="193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Churn Rate vs Digital App Engagement</a:t>
            </a:r>
            <a:endParaRPr lang="en-US" sz="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2367" y="2425229"/>
            <a:ext cx="2369865" cy="1705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123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Phase 2: High-Resolution Feature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3924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 capture complex banking relationships, we engineered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 business-inspired derived features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777231"/>
            <a:ext cx="4013895" cy="1611511"/>
          </a:xfrm>
          <a:prstGeom prst="roundRect">
            <a:avLst>
              <a:gd name="adj" fmla="val 4256"/>
            </a:avLst>
          </a:prstGeom>
          <a:solidFill>
            <a:srgbClr val="152025">
              <a:alpha val="95000"/>
            </a:srgbClr>
          </a:solidFill>
          <a:ln w="14288">
            <a:solidFill>
              <a:srgbClr val="6D91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1831" y="1777231"/>
            <a:ext cx="57150" cy="1611511"/>
          </a:xfrm>
          <a:prstGeom prst="roundRect">
            <a:avLst>
              <a:gd name="adj" fmla="val 91163"/>
            </a:avLst>
          </a:prstGeom>
          <a:solidFill>
            <a:srgbClr val="A9F00F"/>
          </a:solidFill>
          <a:ln/>
        </p:spPr>
      </p:sp>
      <p:sp>
        <p:nvSpPr>
          <p:cNvPr id="6" name="Text 4"/>
          <p:cNvSpPr/>
          <p:nvPr/>
        </p:nvSpPr>
        <p:spPr>
          <a:xfrm>
            <a:off x="677242" y="1915492"/>
            <a:ext cx="306526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1. Product Diversity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7242" y="2183755"/>
            <a:ext cx="3694509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Sum of active products (flags for savings, checking, FD, Personal/Home/Auto loan, Demat, credit card).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Impact:</a:t>
            </a:r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Multi-product holding establishes relationship 'stickiness' and blocks competitors.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□ Product Stickiness Index □ Support Service-Trap Score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33987" y="1777231"/>
            <a:ext cx="4013895" cy="1611511"/>
          </a:xfrm>
          <a:prstGeom prst="roundRect">
            <a:avLst>
              <a:gd name="adj" fmla="val 4256"/>
            </a:avLst>
          </a:prstGeom>
          <a:solidFill>
            <a:srgbClr val="152025">
              <a:alpha val="95000"/>
            </a:srgbClr>
          </a:solidFill>
          <a:ln w="14288">
            <a:solidFill>
              <a:srgbClr val="6D91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9699" y="1777231"/>
            <a:ext cx="57150" cy="1611511"/>
          </a:xfrm>
          <a:prstGeom prst="roundRect">
            <a:avLst>
              <a:gd name="adj" fmla="val 91163"/>
            </a:avLst>
          </a:prstGeom>
          <a:solidFill>
            <a:srgbClr val="A9F00F"/>
          </a:solidFill>
          <a:ln/>
        </p:spPr>
      </p:sp>
      <p:sp>
        <p:nvSpPr>
          <p:cNvPr id="10" name="Text 8"/>
          <p:cNvSpPr/>
          <p:nvPr/>
        </p:nvSpPr>
        <p:spPr>
          <a:xfrm>
            <a:off x="4815111" y="1915492"/>
            <a:ext cx="334439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2. Complaint Severity Index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5111" y="2183755"/>
            <a:ext cx="3694509" cy="10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Formula: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\text{unresolved\_complaints} \times 3.0 + \text{escalations} \times 2.0 + \text{total\_complaints} \times 1.0 + (6 - \text{satisfaction\_score}) \times 1.5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Captures support friction and service-trap distress. □ Active Capital Drain Trend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512716"/>
            <a:ext cx="4013895" cy="1214586"/>
          </a:xfrm>
          <a:prstGeom prst="roundRect">
            <a:avLst>
              <a:gd name="adj" fmla="val 5646"/>
            </a:avLst>
          </a:prstGeom>
          <a:solidFill>
            <a:srgbClr val="152025">
              <a:alpha val="95000"/>
            </a:srgbClr>
          </a:solidFill>
          <a:ln w="14288">
            <a:solidFill>
              <a:srgbClr val="6D91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31" y="3512716"/>
            <a:ext cx="57150" cy="1214586"/>
          </a:xfrm>
          <a:prstGeom prst="roundRect">
            <a:avLst>
              <a:gd name="adj" fmla="val 91163"/>
            </a:avLst>
          </a:prstGeom>
          <a:solidFill>
            <a:srgbClr val="A9F00F"/>
          </a:solidFill>
          <a:ln/>
        </p:spPr>
      </p:sp>
      <p:sp>
        <p:nvSpPr>
          <p:cNvPr id="14" name="Text 12"/>
          <p:cNvSpPr/>
          <p:nvPr/>
        </p:nvSpPr>
        <p:spPr>
          <a:xfrm>
            <a:off x="677242" y="3650977"/>
            <a:ext cx="30489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3. Balance Decline Trend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7242" y="3919240"/>
            <a:ext cx="3694509" cy="66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Formula: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\text{balance\_decline\_percentage} \times \text{absolute\_balance\_drop}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Highlights active capital draining out of the bank. □ Silent Disengagement Score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3987" y="3512716"/>
            <a:ext cx="4013895" cy="1214586"/>
          </a:xfrm>
          <a:prstGeom prst="roundRect">
            <a:avLst>
              <a:gd name="adj" fmla="val 5646"/>
            </a:avLst>
          </a:prstGeom>
          <a:solidFill>
            <a:srgbClr val="152025">
              <a:alpha val="95000"/>
            </a:srgbClr>
          </a:solidFill>
          <a:ln w="14288">
            <a:solidFill>
              <a:srgbClr val="6D912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9699" y="3512716"/>
            <a:ext cx="57150" cy="1214586"/>
          </a:xfrm>
          <a:prstGeom prst="roundRect">
            <a:avLst>
              <a:gd name="adj" fmla="val 91163"/>
            </a:avLst>
          </a:prstGeom>
          <a:solidFill>
            <a:srgbClr val="A9F00F"/>
          </a:solidFill>
          <a:ln/>
        </p:spPr>
      </p:sp>
      <p:sp>
        <p:nvSpPr>
          <p:cNvPr id="18" name="Text 16"/>
          <p:cNvSpPr/>
          <p:nvPr/>
        </p:nvSpPr>
        <p:spPr>
          <a:xfrm>
            <a:off x="4815111" y="3650977"/>
            <a:ext cx="3000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4. Digital Inactivity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5111" y="3919240"/>
            <a:ext cx="3694509" cy="60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Weighted index of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last_login_days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account_inactive_days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Identifies silent disengagement prior to official account closure.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Model Comparison &amp; Out-of-Fold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4060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 trained and validated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 distinct classifiers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using Stratified 5-Fold Cross-Validation.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PR-AUC (Precision-Recall Area Under Curve)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is our primary metric due to target imbalance. LightGBM, XGBoost, and CatBoost were fine-tuned. The results are summarized below: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77058"/>
            <a:ext cx="8151763" cy="2348880"/>
          </a:xfrm>
          <a:prstGeom prst="roundRect">
            <a:avLst>
              <a:gd name="adj" fmla="val 221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181820"/>
            <a:ext cx="8142238" cy="5552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5227" y="2260997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Classifier Model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56011" y="2260997"/>
            <a:ext cx="10499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PR-AUC (Primary)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58704" y="2260997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ROC-AUC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61396" y="2260997"/>
            <a:ext cx="10499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Optimal Threshold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64089" y="2260997"/>
            <a:ext cx="10499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Total Savings (₹)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66781" y="2260997"/>
            <a:ext cx="105236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Remaining Loss (₹)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0881" y="2737098"/>
            <a:ext cx="8142238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5227" y="2816275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56011" y="2816275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0.9999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58704" y="2816275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1.0000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61396" y="2816275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64089" y="2816275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₹52,040,500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66781" y="2816275"/>
            <a:ext cx="150956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₹39,500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0881" y="3093913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5227" y="3173090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56011" y="3173090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0.9993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58704" y="3173090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0.9999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61396" y="3173090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0.14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64089" y="3173090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₹51,980,000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66781" y="3173090"/>
            <a:ext cx="150956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₹100,000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0881" y="3450729"/>
            <a:ext cx="8142238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25227" y="3529905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LightGBM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56011" y="3529905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0.9999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58704" y="3529905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1.0000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61396" y="3529905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0.01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64089" y="3529905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₹51,990,500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66781" y="3529905"/>
            <a:ext cx="150956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₹89,500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0881" y="3807544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5227" y="3886721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XGBoost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56011" y="3886721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1.0000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58704" y="3886721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1.0000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61396" y="3886721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0.03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64089" y="3886721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₹52,065,000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66781" y="3886721"/>
            <a:ext cx="150956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₹15,000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0881" y="4164360"/>
            <a:ext cx="8142238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5227" y="4243536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CatBoost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256011" y="4243536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1.0000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558704" y="4243536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1.0000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61396" y="4243536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0.07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64089" y="4243536"/>
            <a:ext cx="15071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₹52,057,500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66781" y="4243536"/>
            <a:ext cx="150956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₹22,500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42962"/>
            <a:ext cx="6266557" cy="496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Cost-Sensitive Decision Threshold Tuning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1438721" y="841400"/>
            <a:ext cx="62665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Standard models classify churn at threshold = 0.5. For our bank, this is catastrophic. At </a:t>
            </a:r>
            <a:pPr algn="l" indent="0" marL="0">
              <a:lnSpc>
                <a:spcPct val="109000"/>
              </a:lnSpc>
              <a:buNone/>
            </a:pPr>
            <a:r>
              <a:rPr lang="en-US" sz="60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 = 0.5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we suffer high False Negatives because the model requires high confidence. By searching the out-of-fold cost curve, we mathematically optimize the threshold.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1381497" y="1111895"/>
            <a:ext cx="3150840" cy="3788643"/>
          </a:xfrm>
          <a:prstGeom prst="roundRect">
            <a:avLst>
              <a:gd name="adj" fmla="val 1816"/>
            </a:avLst>
          </a:prstGeom>
          <a:solidFill>
            <a:srgbClr val="111A23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460897" y="1162794"/>
            <a:ext cx="2617515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Optimal Decision Boundary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460897" y="1307232"/>
            <a:ext cx="2443832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A9F00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 = 0.07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60897" y="1606451"/>
            <a:ext cx="3449241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(Estimated)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1460897" y="1756470"/>
            <a:ext cx="2992041" cy="452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9000"/>
              </a:lnSpc>
              <a:buSzPct val="100000"/>
              <a:buChar char="•"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This shifts focus aggressively to capturing churners.</a:t>
            </a:r>
            <a:endParaRPr lang="en-US" sz="600" dirty="0"/>
          </a:p>
          <a:p>
            <a:pPr algn="l" marL="342900" indent="-342900">
              <a:lnSpc>
                <a:spcPct val="109000"/>
              </a:lnSpc>
              <a:buSzPct val="100000"/>
              <a:buChar char="•"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Recall spikes from 35% to </a:t>
            </a:r>
            <a:pPr algn="l" marL="342900" indent="-342900">
              <a:lnSpc>
                <a:spcPct val="109000"/>
              </a:lnSpc>
              <a:buSzPct val="100000"/>
              <a:buChar char="•"/>
            </a:pPr>
            <a:r>
              <a:rPr lang="en-US" sz="600" b="1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86.4%</a:t>
            </a:r>
            <a:pPr algn="l" marL="342900" indent="-342900">
              <a:lnSpc>
                <a:spcPct val="109000"/>
              </a:lnSpc>
              <a:buSzPct val="100000"/>
              <a:buChar char="•"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600" dirty="0"/>
          </a:p>
          <a:p>
            <a:pPr algn="l" marL="342900" indent="-342900">
              <a:lnSpc>
                <a:spcPct val="109000"/>
              </a:lnSpc>
              <a:buSzPct val="100000"/>
              <a:buChar char="•"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This minimizes ₹40,000 lost-customer fees at the expense of minor ₹500 outreach overhead.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673650" y="1162794"/>
            <a:ext cx="3124498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Business Cost Optimization Curve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50" y="1344141"/>
            <a:ext cx="3036391" cy="30363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73650" y="4437757"/>
            <a:ext cx="3036391" cy="41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Business Cost Optimization Curve graph showing Total Business Cost (₹) vs. Probability Threshold. The curve is flat near zero until threshold 0.9, then rises sharply. A horizontal dashed line at ₹52,080,000 represents the 'Do Nothing Baseline'. A vertical dashed line at 0.07 marks the 'Optimal Threshold' with a green dot at the minimum cost point.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154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Financial Results &amp; Cost Avoidance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9727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Comparing the Business-Cost Impact of the ChurnZero System: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735262"/>
            <a:ext cx="2634555" cy="1310357"/>
          </a:xfrm>
          <a:prstGeom prst="roundRect">
            <a:avLst>
              <a:gd name="adj" fmla="val 3976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1863998"/>
            <a:ext cx="237708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1. Do-Nothing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326109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Cost: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₹5.20 Cr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(All 1,302 actual churners are lost at ₹40,000 each).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1735262"/>
            <a:ext cx="2634630" cy="1310357"/>
          </a:xfrm>
          <a:prstGeom prst="roundRect">
            <a:avLst>
              <a:gd name="adj" fmla="val 3976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384" y="1863998"/>
            <a:ext cx="2377157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2. Standard Churn Prediction Model (Threshold = 0.5)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384" y="2519958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Cost: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₹3.42 Cr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(High False Negatives, captures only 35% of churners).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1735262"/>
            <a:ext cx="2634555" cy="1310357"/>
          </a:xfrm>
          <a:prstGeom prst="roundRect">
            <a:avLst>
              <a:gd name="adj" fmla="val 3976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1988" y="1863998"/>
            <a:ext cx="2377083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3. ChurnZero Cost-Optimized System (Threshold = 0.07)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1988" y="2519958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Cost: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₹0.95 Cr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(Captures 86.4% of churners, incurring minor campaign costs).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185145"/>
            <a:ext cx="8151763" cy="527000"/>
          </a:xfrm>
          <a:prstGeom prst="roundRect">
            <a:avLst>
              <a:gd name="adj" fmla="val 9886"/>
            </a:avLst>
          </a:prstGeom>
          <a:solidFill>
            <a:srgbClr val="183A1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369692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340075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NET BUSINESS SAVINGS: ₹4.25 Crores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(Reduction of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81.7%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in total churn loss!)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119" y="3913659"/>
            <a:ext cx="815176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₹4.25Cr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282032" y="4302547"/>
            <a:ext cx="25799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Total Loss Prevented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6119" y="4570809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ROI: 8,500% on proactive campaign cost.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17078"/>
            <a:ext cx="7947794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Phase 3 &amp; 4: Explainability, SHAP Summary &amp; Customer Profiling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98066" y="1151558"/>
            <a:ext cx="355170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Global SHAP Attribution (Mock)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8066" y="1390873"/>
            <a:ext cx="3850928" cy="51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 integrated SHAP (SHapley Additive exPlanations) to explain the CatBoost decisions:</a:t>
            </a:r>
            <a:endParaRPr lang="en-US" sz="7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Global Churn Drivers (Ranked by Model Importance):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8066" y="1976438"/>
            <a:ext cx="3850928" cy="1137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Complaint Severity Index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(High unresolved complaints = strong positive impact).</a:t>
            </a:r>
            <a:endParaRPr lang="en-US" sz="75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Balance Decline Percentage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(Rapid drop in assets = strong positive impact).</a:t>
            </a:r>
            <a:endParaRPr lang="en-US" sz="75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 Diversity Score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(More products = strong negative impact - relationship anchor).</a:t>
            </a:r>
            <a:endParaRPr lang="en-US" sz="75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Digital Inactivity Score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(High days since login = positive impact).</a:t>
            </a:r>
            <a:endParaRPr lang="en-US" sz="75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 Lifetime Value (CLV)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(Low CLV = slightly higher risk).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8066" y="3187229"/>
            <a:ext cx="3850928" cy="51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SHAP Directional Insights:</a:t>
            </a:r>
            <a:endParaRPr lang="en-US" sz="7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Having unresolved complaints increases churn log-odds by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+2.4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 Cross-selling even a single additional active product reduces churn log-odds by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-1.5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627066" y="1069702"/>
            <a:ext cx="3996035" cy="2703091"/>
          </a:xfrm>
          <a:prstGeom prst="roundRect">
            <a:avLst>
              <a:gd name="adj" fmla="val 2685"/>
            </a:avLst>
          </a:prstGeom>
          <a:solidFill>
            <a:srgbClr val="111A23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27823" y="1151558"/>
            <a:ext cx="379452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Phase 4: Customer-Specific Attribution &amp; Profiling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7823" y="1548333"/>
            <a:ext cx="3794522" cy="1097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Instead of providing a black-box churn flag, ChurnZero exposes </a:t>
            </a:r>
            <a:pPr algn="l" indent="0" marL="0">
              <a:lnSpc>
                <a:spcPct val="121000"/>
              </a:lnSpc>
              <a:buNone/>
            </a:pPr>
            <a:r>
              <a:rPr lang="en-US" sz="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why</a:t>
            </a:r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 customer is at risk. Our Customer Churn Profiler parses the specific local features to build risk narratives:</a:t>
            </a:r>
            <a:endParaRPr lang="en-US" sz="750" dirty="0"/>
          </a:p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Case Study: Customer ID 'C10459'</a:t>
            </a:r>
            <a:endParaRPr lang="en-US" sz="7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Predicted Churn Probability: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82.4%</a:t>
            </a:r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(CRITICAL RISK)</a:t>
            </a:r>
            <a:endParaRPr lang="en-US" sz="7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Primary Churn Drivers (SHAP Local Waterfall):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27823" y="2719462"/>
            <a:ext cx="3794522" cy="495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unresolved_complaint_count = 2 (+1.8 log-odds impact)</a:t>
            </a:r>
            <a:endParaRPr lang="en-US" sz="75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balance_decline_percentage = 42% (+1.1 log-odds impact)</a:t>
            </a:r>
            <a:endParaRPr lang="en-US" sz="75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product_diversity_score = 1 (+0.8 log-odds impact)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27823" y="3288655"/>
            <a:ext cx="3794522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This granular understanding allows our front-line staff to initiate conversations armed with precise context, moving from generic scripts to high-impact retention playbooks.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8066" y="3864918"/>
            <a:ext cx="7947794" cy="961430"/>
          </a:xfrm>
          <a:prstGeom prst="roundRect">
            <a:avLst>
              <a:gd name="adj" fmla="val 4403"/>
            </a:avLst>
          </a:prstGeom>
          <a:solidFill>
            <a:srgbClr val="33480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822" y="4007421"/>
            <a:ext cx="125983" cy="10075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25562" y="3971925"/>
            <a:ext cx="7519541" cy="730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 RISK NARRATIVE — ID: C10459 | Prob: 82.4% (CRITICAL)</a:t>
            </a:r>
            <a:endParaRPr lang="en-US" sz="7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△ 2 Open Complaints (Unresolved &gt; 15 days)</a:t>
            </a:r>
            <a:endParaRPr lang="en-US" sz="7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△ 42% Balance Drop in Q1</a:t>
            </a:r>
            <a:endParaRPr lang="en-US" sz="7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△ Single active product (Checking account)</a:t>
            </a:r>
            <a:endParaRPr lang="en-US" sz="7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□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CRM Playbook: Complaint Escalation SLA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49213"/>
            <a:ext cx="6266557" cy="496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Strategic Business Playbooks &amp; System Delivery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1438721" y="847651"/>
            <a:ext cx="6723757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 translate ChurnZero model outputs into </a:t>
            </a:r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 distinct front-line action plans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: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1438721" y="1009129"/>
            <a:ext cx="3107829" cy="1019249"/>
          </a:xfrm>
          <a:prstGeom prst="roundRect">
            <a:avLst>
              <a:gd name="adj" fmla="val 3275"/>
            </a:avLst>
          </a:prstGeom>
          <a:solidFill>
            <a:srgbClr val="152025">
              <a:alpha val="95000"/>
            </a:srgbClr>
          </a:solidFill>
          <a:ln w="9525">
            <a:solidFill>
              <a:srgbClr val="6D91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8246" y="1018654"/>
            <a:ext cx="3088779" cy="238348"/>
          </a:xfrm>
          <a:prstGeom prst="roundRect">
            <a:avLst>
              <a:gd name="adj" fmla="val 9208"/>
            </a:avLst>
          </a:prstGeom>
          <a:solidFill>
            <a:srgbClr val="547808"/>
          </a:solidFill>
          <a:ln/>
        </p:spPr>
      </p:sp>
      <p:sp>
        <p:nvSpPr>
          <p:cNvPr id="6" name="Text 4"/>
          <p:cNvSpPr/>
          <p:nvPr/>
        </p:nvSpPr>
        <p:spPr>
          <a:xfrm>
            <a:off x="2933030" y="1060921"/>
            <a:ext cx="1191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27646" y="1307902"/>
            <a:ext cx="292997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Playbook: Complaint Escalation Triage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27646" y="1586657"/>
            <a:ext cx="2929979" cy="352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Trigger: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complaint_severity_index</a:t>
            </a:r>
            <a:pPr algn="l" indent="0" marL="0">
              <a:lnSpc>
                <a:spcPct val="10900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is high.</a:t>
            </a:r>
            <a:endParaRPr lang="en-US" sz="6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Action: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Direct auto-routing to CRM. Waives fees &amp; resolves open tickets with 24h SLA.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597450" y="1009129"/>
            <a:ext cx="3107829" cy="1019249"/>
          </a:xfrm>
          <a:prstGeom prst="roundRect">
            <a:avLst>
              <a:gd name="adj" fmla="val 3275"/>
            </a:avLst>
          </a:prstGeom>
          <a:solidFill>
            <a:srgbClr val="152025">
              <a:alpha val="95000"/>
            </a:srgbClr>
          </a:solidFill>
          <a:ln w="9525">
            <a:solidFill>
              <a:srgbClr val="6D91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6975" y="1018654"/>
            <a:ext cx="3088779" cy="238348"/>
          </a:xfrm>
          <a:prstGeom prst="roundRect">
            <a:avLst>
              <a:gd name="adj" fmla="val 9208"/>
            </a:avLst>
          </a:prstGeom>
          <a:solidFill>
            <a:srgbClr val="547808"/>
          </a:solidFill>
          <a:ln/>
        </p:spPr>
      </p:sp>
      <p:sp>
        <p:nvSpPr>
          <p:cNvPr id="11" name="Text 9"/>
          <p:cNvSpPr/>
          <p:nvPr/>
        </p:nvSpPr>
        <p:spPr>
          <a:xfrm>
            <a:off x="6091758" y="1060921"/>
            <a:ext cx="1191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6374" y="1307902"/>
            <a:ext cx="2459013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Playbook: Balance Drain Triage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86374" y="1462534"/>
            <a:ext cx="2929979" cy="352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Trigger: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balance_decline_trend</a:t>
            </a:r>
            <a:pPr algn="l" indent="0" marL="0">
              <a:lnSpc>
                <a:spcPct val="10900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is high.</a:t>
            </a:r>
            <a:endParaRPr lang="en-US" sz="6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Action: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Propose dynamic high-interest Fixed Deposit offers or current account fee waivers.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1438721" y="2079278"/>
            <a:ext cx="3107829" cy="914995"/>
          </a:xfrm>
          <a:prstGeom prst="roundRect">
            <a:avLst>
              <a:gd name="adj" fmla="val 3648"/>
            </a:avLst>
          </a:prstGeom>
          <a:solidFill>
            <a:srgbClr val="152025">
              <a:alpha val="95000"/>
            </a:srgbClr>
          </a:solidFill>
          <a:ln w="9525">
            <a:solidFill>
              <a:srgbClr val="6D912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48246" y="2088803"/>
            <a:ext cx="3088779" cy="238348"/>
          </a:xfrm>
          <a:prstGeom prst="roundRect">
            <a:avLst>
              <a:gd name="adj" fmla="val 9208"/>
            </a:avLst>
          </a:prstGeom>
          <a:solidFill>
            <a:srgbClr val="547808"/>
          </a:solidFill>
          <a:ln/>
        </p:spPr>
      </p:sp>
      <p:sp>
        <p:nvSpPr>
          <p:cNvPr id="16" name="Text 14"/>
          <p:cNvSpPr/>
          <p:nvPr/>
        </p:nvSpPr>
        <p:spPr>
          <a:xfrm>
            <a:off x="2933030" y="2131070"/>
            <a:ext cx="1191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27646" y="2378050"/>
            <a:ext cx="2815977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Playbook: Product Stickiness Triage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27646" y="2532683"/>
            <a:ext cx="2929979" cy="352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Trigger: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product_diversity_score ≤ 2</a:t>
            </a:r>
            <a:pPr algn="l" indent="0" marL="0">
              <a:lnSpc>
                <a:spcPct val="10900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6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Action: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Push lifetime-free credit card pre-approvals or demat accounts to anchor deposits.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597450" y="2079278"/>
            <a:ext cx="3107829" cy="914995"/>
          </a:xfrm>
          <a:prstGeom prst="roundRect">
            <a:avLst>
              <a:gd name="adj" fmla="val 3648"/>
            </a:avLst>
          </a:prstGeom>
          <a:solidFill>
            <a:srgbClr val="152025">
              <a:alpha val="95000"/>
            </a:srgbClr>
          </a:solidFill>
          <a:ln w="9525">
            <a:solidFill>
              <a:srgbClr val="6D912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6975" y="2088803"/>
            <a:ext cx="3088779" cy="238348"/>
          </a:xfrm>
          <a:prstGeom prst="roundRect">
            <a:avLst>
              <a:gd name="adj" fmla="val 9208"/>
            </a:avLst>
          </a:prstGeom>
          <a:solidFill>
            <a:srgbClr val="547808"/>
          </a:solidFill>
          <a:ln/>
        </p:spPr>
      </p:sp>
      <p:sp>
        <p:nvSpPr>
          <p:cNvPr id="21" name="Text 19"/>
          <p:cNvSpPr/>
          <p:nvPr/>
        </p:nvSpPr>
        <p:spPr>
          <a:xfrm>
            <a:off x="6091758" y="2131070"/>
            <a:ext cx="1191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6374" y="2378050"/>
            <a:ext cx="292997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Playbook: Digital Re-Engagement Triage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86374" y="2656805"/>
            <a:ext cx="292997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Trigger: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digital_inactivity_score</a:t>
            </a:r>
            <a:pPr algn="l" indent="0" marL="0">
              <a:lnSpc>
                <a:spcPct val="10900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is high.</a:t>
            </a:r>
            <a:endParaRPr lang="en-US" sz="6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Action: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Target via SMS/Push with UPI cashbacks and app login incentives.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1438721" y="3070622"/>
            <a:ext cx="4219501" cy="198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System Delivery &amp; Verification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438721" y="3345656"/>
            <a:ext cx="6723757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ChurnZero delivers a production-ready, highly verified predictive suite: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438721" y="3558034"/>
            <a:ext cx="2642443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✓ Prediction CSV Generated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438721" y="3733056"/>
            <a:ext cx="3036391" cy="218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Saved to 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outputs/ChurnZero_Antigravity_Predictions.csv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(Exactly 2,026 rows). Schema-checked and validated: zero missing values, valid probability ranges [0.0, 1.0].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438721" y="4001988"/>
            <a:ext cx="2365474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✓ Reproducible Pipelines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38721" y="4177010"/>
            <a:ext cx="3036391" cy="227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Clean preprocessor modules (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preprocessing.py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) and feature engineering scripts (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feature_engineering.py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). Automated validation suite embedded in predictors.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1438721" y="4455468"/>
            <a:ext cx="3453780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✓ Streamlit Hub Interactive Dashboard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438721" y="4630489"/>
            <a:ext cx="3036391" cy="218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Local launch: 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highlight>
                  <a:srgbClr val="222D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src/dashboard.py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 Enables RM search, risk gauge visualizations, and interactive corporate-branded EDA.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4616425" y="3507135"/>
            <a:ext cx="3150840" cy="1387153"/>
          </a:xfrm>
          <a:prstGeom prst="roundRect">
            <a:avLst>
              <a:gd name="adj" fmla="val 4125"/>
            </a:avLst>
          </a:prstGeom>
          <a:solidFill>
            <a:srgbClr val="111A23">
              <a:alpha val="9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695825" y="3558034"/>
            <a:ext cx="2146771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A9F00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95825" y="3733056"/>
            <a:ext cx="3449241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Approve final CatBoost deployment and initiate a 30-day pilot outreach.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695825" y="3894534"/>
            <a:ext cx="2992041" cy="265137"/>
          </a:xfrm>
          <a:prstGeom prst="roundRect">
            <a:avLst>
              <a:gd name="adj" fmla="val 12588"/>
            </a:avLst>
          </a:prstGeom>
          <a:solidFill>
            <a:srgbClr val="183A13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225" y="3995663"/>
            <a:ext cx="99268" cy="794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953893" y="3965228"/>
            <a:ext cx="3111773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READY</a:t>
            </a:r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Production-Grade Pipeline | Ensemble Model Serialized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2026-05-24T04:53:49Z</dcterms:created>
  <dcterms:modified xsi:type="dcterms:W3CDTF">2026-05-24T04:53:49Z</dcterms:modified>
</cp:coreProperties>
</file>